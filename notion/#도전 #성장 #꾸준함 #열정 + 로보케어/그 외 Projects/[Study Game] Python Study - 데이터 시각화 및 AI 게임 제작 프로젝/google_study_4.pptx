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4592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006027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3"/>
          <p:cNvSpPr txBox="1"/>
          <p:nvPr/>
        </p:nvSpPr>
        <p:spPr>
          <a:xfrm>
            <a:off x="752693" y="1871381"/>
            <a:ext cx="6875483" cy="422799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200" b="1"/>
              <a:t>어떤 데이터 이용해서 그래프를 그리면 의미가 있을까</a:t>
            </a:r>
            <a:r>
              <a:rPr lang="en-US" altLang="ko-KR" sz="2200" b="1"/>
              <a:t>?</a:t>
            </a:r>
            <a:endParaRPr lang="en-US" altLang="ko-KR" sz="2200" b="1"/>
          </a:p>
        </p:txBody>
      </p:sp>
      <p:sp>
        <p:nvSpPr>
          <p:cNvPr id="5" name="가로 글상자 4"/>
          <p:cNvSpPr txBox="1"/>
          <p:nvPr/>
        </p:nvSpPr>
        <p:spPr>
          <a:xfrm>
            <a:off x="752693" y="2406238"/>
            <a:ext cx="7427935" cy="364192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게임 개발자이니</a:t>
            </a:r>
            <a:r>
              <a:rPr lang="ko-KR" altLang="en-US" b="1"/>
              <a:t> 게임 관련 데이터</a:t>
            </a:r>
            <a:r>
              <a:rPr lang="ko-KR" altLang="en-US"/>
              <a:t>로 시각화를 해보면 의미 있지 않을까</a:t>
            </a:r>
            <a:r>
              <a:rPr lang="en-US" altLang="ko-KR"/>
              <a:t>?</a:t>
            </a:r>
            <a:endParaRPr lang="en-US" altLang="ko-KR"/>
          </a:p>
        </p:txBody>
      </p:sp>
      <p:sp>
        <p:nvSpPr>
          <p:cNvPr id="6" name="가로 글상자 5"/>
          <p:cNvSpPr txBox="1"/>
          <p:nvPr/>
        </p:nvSpPr>
        <p:spPr>
          <a:xfrm>
            <a:off x="752693" y="3603810"/>
            <a:ext cx="6598141" cy="42392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200" b="1"/>
              <a:t>그럼 게임 회사에서는 어떤 게임 데이터를 사용할까</a:t>
            </a:r>
            <a:r>
              <a:rPr lang="en-US" altLang="ko-KR" sz="2200" b="1"/>
              <a:t>?</a:t>
            </a:r>
            <a:endParaRPr lang="en-US" altLang="ko-KR" sz="2200" b="1"/>
          </a:p>
        </p:txBody>
      </p:sp>
      <p:sp>
        <p:nvSpPr>
          <p:cNvPr id="7" name="가로 글상자 6"/>
          <p:cNvSpPr txBox="1"/>
          <p:nvPr/>
        </p:nvSpPr>
        <p:spPr>
          <a:xfrm>
            <a:off x="752693" y="4027730"/>
            <a:ext cx="10686613" cy="173355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b="1"/>
              <a:t>유저 행동 데이터 (Player Behavior Data) </a:t>
            </a:r>
            <a:r>
              <a:rPr lang="ko-KR" altLang="en-US"/>
              <a:t>가 유저가 게임을 어떻게 즐기는지 파악하고 밸런스를 조정하는데 많이 사용한다고 해서 해당 데이터 중 몇 가지를 시각화를 진행하기로 함</a:t>
            </a:r>
            <a:r>
              <a:rPr lang="en-US" altLang="ko-KR"/>
              <a:t>!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 b="1"/>
              <a:t>1.</a:t>
            </a:r>
            <a:r>
              <a:rPr lang="ko-KR" altLang="en-US" b="1"/>
              <a:t>  DAU/MAU (일간/월간 활성 유저 수) : 시간에 따른 게임의 전반적인 상태 변화를 추적 가능 데이터</a:t>
            </a:r>
            <a:endParaRPr lang="ko-KR" altLang="en-US" b="1"/>
          </a:p>
          <a:p>
            <a:pPr lvl="0">
              <a:defRPr/>
            </a:pPr>
            <a:r>
              <a:rPr lang="en-US" altLang="ko-KR" b="1"/>
              <a:t>2.</a:t>
            </a:r>
            <a:r>
              <a:rPr lang="ko-KR" altLang="en-US" b="1"/>
              <a:t> 퍼널 분석 </a:t>
            </a:r>
            <a:r>
              <a:rPr lang="en-US" altLang="ko-KR" b="1"/>
              <a:t>:</a:t>
            </a:r>
            <a:r>
              <a:rPr lang="ko-KR" altLang="en-US" b="1"/>
              <a:t> 신규 유저가 튜토리얼을 얼마나 완료하는지 단계 별로 측정한 데이터</a:t>
            </a:r>
            <a:endParaRPr lang="ko-KR" altLang="en-US" b="1"/>
          </a:p>
          <a:p>
            <a:pPr lvl="0">
              <a:defRPr/>
            </a:pPr>
            <a:r>
              <a:rPr lang="en-US" altLang="ko-KR" b="1"/>
              <a:t>3.</a:t>
            </a:r>
            <a:r>
              <a:rPr lang="ko-KR" altLang="en-US" b="1"/>
              <a:t> 맵 밸런스 조절 데이터 </a:t>
            </a:r>
            <a:r>
              <a:rPr lang="en-US" altLang="ko-KR" b="1"/>
              <a:t>:</a:t>
            </a:r>
            <a:r>
              <a:rPr lang="ko-KR" altLang="en-US" b="1"/>
              <a:t> '용의 둥지'라는 맵에서 발생한 유저들의 사망 위치 좌표 데이터</a:t>
            </a:r>
            <a:endParaRPr lang="ko-KR" altLang="en-US" b="1"/>
          </a:p>
        </p:txBody>
      </p:sp>
      <p:sp>
        <p:nvSpPr>
          <p:cNvPr id="9" name="직사각형 8"/>
          <p:cNvSpPr/>
          <p:nvPr/>
        </p:nvSpPr>
        <p:spPr>
          <a:xfrm>
            <a:off x="0" y="0"/>
            <a:ext cx="12192000" cy="818030"/>
          </a:xfrm>
          <a:prstGeom prst="rect">
            <a:avLst/>
          </a:prstGeom>
          <a:solidFill>
            <a:srgbClr val="2b2d63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0" name="가로 글상자 9"/>
          <p:cNvSpPr txBox="1"/>
          <p:nvPr/>
        </p:nvSpPr>
        <p:spPr>
          <a:xfrm>
            <a:off x="0" y="201704"/>
            <a:ext cx="12192001" cy="415516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2200" b="1">
                <a:solidFill>
                  <a:schemeClr val="lt1"/>
                </a:solidFill>
              </a:rPr>
              <a:t>데이터 시각화 </a:t>
            </a:r>
            <a:r>
              <a:rPr lang="en-US" altLang="ko-KR" sz="2200" b="1">
                <a:solidFill>
                  <a:schemeClr val="lt1"/>
                </a:solidFill>
              </a:rPr>
              <a:t>Test</a:t>
            </a:r>
            <a:endParaRPr lang="en-US" altLang="ko-KR" sz="2200" b="1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550561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12192000" cy="818030"/>
          </a:xfrm>
          <a:prstGeom prst="rect">
            <a:avLst/>
          </a:prstGeom>
          <a:solidFill>
            <a:srgbClr val="2b2d63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0" y="201704"/>
            <a:ext cx="12192001" cy="415516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2200" b="1">
                <a:solidFill>
                  <a:schemeClr val="lt1"/>
                </a:solidFill>
              </a:rPr>
              <a:t>DAU/MAU (일간/월간 활성 유저 수) : 시간에 따른 게임의 전반적인 상태 변화를 추적 가능 데이터</a:t>
            </a:r>
            <a:endParaRPr lang="en-US" altLang="ko-KR" sz="2200" b="1">
              <a:solidFill>
                <a:schemeClr val="lt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54480" y="1356584"/>
            <a:ext cx="4541520" cy="336042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554479" y="4840048"/>
            <a:ext cx="4541520" cy="107699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3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date: 날짜</a:t>
            </a: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3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dau: 일간 활성 유저 수 (Daily Active Users)</a:t>
            </a: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3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retention_d1: 1일차 재방문율 (어제 가입한 유저 중 오늘 접속한 유저의 비율)</a:t>
            </a: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3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avg_playtime_minutes: 유저당 일일 평균 플레이 시간 (분)</a:t>
            </a:r>
            <a:endParaRPr xmlns:mc="http://schemas.openxmlformats.org/markup-compatibility/2006" xmlns:hp="http://schemas.haansoft.com/office/presentation/8.0" sz="13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00264" y="1009202"/>
            <a:ext cx="3787139" cy="568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587609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0" y="0"/>
            <a:ext cx="12192000" cy="818030"/>
          </a:xfrm>
          <a:prstGeom prst="rect">
            <a:avLst/>
          </a:prstGeom>
          <a:solidFill>
            <a:srgbClr val="2b2d63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0" y="201704"/>
            <a:ext cx="12192001" cy="415516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2200" b="1">
                <a:solidFill>
                  <a:schemeClr val="lt1"/>
                </a:solidFill>
              </a:rPr>
              <a:t>퍼널 분석 </a:t>
            </a:r>
            <a:r>
              <a:rPr lang="en-US" altLang="ko-KR" sz="2200" b="1">
                <a:solidFill>
                  <a:schemeClr val="lt1"/>
                </a:solidFill>
              </a:rPr>
              <a:t>:</a:t>
            </a:r>
            <a:r>
              <a:rPr lang="ko-KR" altLang="en-US" sz="2200" b="1">
                <a:solidFill>
                  <a:schemeClr val="lt1"/>
                </a:solidFill>
              </a:rPr>
              <a:t> 신규 유저가 튜토리얼을 얼마나 완료하는지 단계 별로 측정한 데이터</a:t>
            </a:r>
            <a:endParaRPr lang="en-US" altLang="ko-KR" sz="2200" b="1">
              <a:solidFill>
                <a:schemeClr val="lt1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96644" y="2176518"/>
            <a:ext cx="4475058" cy="250496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96644" y="4800208"/>
            <a:ext cx="4657950" cy="9058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step_order: 단계 순서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step_name: 단계 이름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user_count: 해당 단계에 도달한 유저 수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21942" y="2078691"/>
            <a:ext cx="6572249" cy="43815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36406" y="1076528"/>
            <a:ext cx="10709689" cy="6406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신규 유저가 튜토리얼을 얼마나 완료하는지 단계 별로 측정한 데이터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로 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어느 구간에서 유저가 가장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많이 이탈하는지 파악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가능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→ 가로 바 차트를 사용하여 단계별 사용자 수를 시각화하면 이탈률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비교 쉬움</a:t>
            </a:r>
            <a:endParaRPr xmlns:mc="http://schemas.openxmlformats.org/markup-compatibility/2006" xmlns:hp="http://schemas.haansoft.com/office/presentation/8.0" lang="ko-KR" altLang="en-US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1522250306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818030"/>
          </a:xfrm>
          <a:prstGeom prst="rect">
            <a:avLst/>
          </a:prstGeom>
          <a:solidFill>
            <a:srgbClr val="2b2d63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0" y="201704"/>
            <a:ext cx="12192001" cy="415516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2200" b="1">
                <a:solidFill>
                  <a:schemeClr val="lt1"/>
                </a:solidFill>
              </a:rPr>
              <a:t>맵 밸런스 조절 데이터 </a:t>
            </a:r>
            <a:r>
              <a:rPr lang="en-US" altLang="ko-KR" sz="2200" b="1">
                <a:solidFill>
                  <a:schemeClr val="lt1"/>
                </a:solidFill>
              </a:rPr>
              <a:t>:</a:t>
            </a:r>
            <a:r>
              <a:rPr lang="ko-KR" altLang="en-US" sz="2200" b="1">
                <a:solidFill>
                  <a:schemeClr val="lt1"/>
                </a:solidFill>
              </a:rPr>
              <a:t> '용의 둥지'라는 맵에서 발생한 유저들의 사망 위치 좌표 데이터</a:t>
            </a:r>
            <a:endParaRPr lang="en-US" altLang="ko-KR" sz="2200" b="1">
              <a:solidFill>
                <a:schemeClr val="lt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60450" y="925549"/>
            <a:ext cx="11271100" cy="636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용의 둥지라는 맵에서 발생한 유저들의 사망 위치 좌표 데이터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로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특정 지역에서 사망이 집중되는지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분석하여 맵 밸런스를 조정하는 데 사용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→ 히트맵으로 시각화하면 사망이 잦은 위험 지역을 직관적으로 파악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95468" y="1792324"/>
            <a:ext cx="4056675" cy="373693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395468" y="5759150"/>
            <a:ext cx="4297119" cy="72771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4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map_name: 맵 이름</a:t>
            </a:r>
            <a:endParaRPr xmlns:mc="http://schemas.openxmlformats.org/markup-compatibility/2006" xmlns:hp="http://schemas.haansoft.com/office/presentation/8.0" sz="14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4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death_x_coord: 사망 이벤트가 발생한 X좌표</a:t>
            </a:r>
            <a:endParaRPr xmlns:mc="http://schemas.openxmlformats.org/markup-compatibility/2006" xmlns:hp="http://schemas.haansoft.com/office/presentation/8.0" sz="14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4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death_y_coord: 사망 이벤트가 발생한 Y좌표</a:t>
            </a:r>
            <a:endParaRPr xmlns:mc="http://schemas.openxmlformats.org/markup-compatibility/2006" xmlns:hp="http://schemas.haansoft.com/office/presentation/8.0" sz="14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l="5042" t="10714" r="13235" b="6513"/>
          <a:stretch>
            <a:fillRect/>
          </a:stretch>
        </p:blipFill>
        <p:spPr>
          <a:xfrm>
            <a:off x="5927911" y="1562436"/>
            <a:ext cx="5132294" cy="519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4336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0" y="0"/>
            <a:ext cx="12192000" cy="818030"/>
          </a:xfrm>
          <a:prstGeom prst="rect">
            <a:avLst/>
          </a:prstGeom>
          <a:solidFill>
            <a:srgbClr val="2b2d63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0" y="201704"/>
            <a:ext cx="12192001" cy="415516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2200" b="1">
                <a:solidFill>
                  <a:schemeClr val="lt1"/>
                </a:solidFill>
              </a:rPr>
              <a:t>맵 밸런스 조절 데이터 </a:t>
            </a:r>
            <a:r>
              <a:rPr lang="en-US" altLang="ko-KR" sz="2200" b="1">
                <a:solidFill>
                  <a:schemeClr val="lt1"/>
                </a:solidFill>
              </a:rPr>
              <a:t>:</a:t>
            </a:r>
            <a:r>
              <a:rPr lang="ko-KR" altLang="en-US" sz="2200" b="1">
                <a:solidFill>
                  <a:schemeClr val="lt1"/>
                </a:solidFill>
              </a:rPr>
              <a:t> '용의 둥지'라는 맵에서 발생한 유저들의 사망 위치 좌표 데이터</a:t>
            </a:r>
            <a:endParaRPr lang="en-US" altLang="ko-KR" sz="2200" b="1">
              <a:solidFill>
                <a:schemeClr val="lt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91265" y="1239315"/>
            <a:ext cx="4866939" cy="3589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1) 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부드러운 등고선형 히트맵 (KDE Plot)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91265" y="1606980"/>
            <a:ext cx="10458112" cy="6390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현재 사용 중인 사각형 격자 형태의 히트맵 대신, sns.kdeplot을 사용하면 데이터의 밀도를 부드러운 등고선형태로 표현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lang="en-US" altLang="ko-KR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-&gt;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더 세련되고 분포를 직관적으로 파악하는 데 도움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91265" y="2618562"/>
            <a:ext cx="4866939" cy="36085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2) 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실제 게임 맵을 오버레이 시키기 </a:t>
            </a:r>
            <a:endParaRPr xmlns:mc="http://schemas.openxmlformats.org/markup-compatibility/2006" xmlns:hp="http://schemas.haansoft.com/office/presentation/8.0" lang="ko-KR" altLang="en-US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91266" y="2986227"/>
            <a:ext cx="10458112" cy="6390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현재 사용 중인 사각형 격자 형태의 히트맵 대신, sns.kdeplot을 사용하면 데이터의 밀도를 부드러운 등고선형태로 표현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lang="en-US" altLang="ko-KR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-&gt;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더 세련되고 분포를 직관적으로 파악하는 데 도움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23732" y="3864988"/>
            <a:ext cx="3565711" cy="2790241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94007" y="4044271"/>
            <a:ext cx="3229570" cy="243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12734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818030"/>
          </a:xfrm>
          <a:prstGeom prst="rect">
            <a:avLst/>
          </a:prstGeom>
          <a:solidFill>
            <a:srgbClr val="2b2d63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0" y="201704"/>
            <a:ext cx="12192001" cy="415516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2200" b="1">
                <a:solidFill>
                  <a:schemeClr val="lt1"/>
                </a:solidFill>
              </a:rPr>
              <a:t>맵 밸런스 조절 데이터 </a:t>
            </a:r>
            <a:r>
              <a:rPr lang="en-US" altLang="ko-KR" sz="2200" b="1">
                <a:solidFill>
                  <a:schemeClr val="lt1"/>
                </a:solidFill>
              </a:rPr>
              <a:t>:</a:t>
            </a:r>
            <a:r>
              <a:rPr lang="ko-KR" altLang="en-US" sz="2200" b="1">
                <a:solidFill>
                  <a:schemeClr val="lt1"/>
                </a:solidFill>
              </a:rPr>
              <a:t> '용의 둥지'라는 맵에서 발생한 유저들의 사망 위치 좌표 데이터</a:t>
            </a:r>
            <a:endParaRPr lang="en-US" altLang="ko-KR" sz="2200" b="1">
              <a:solidFill>
                <a:schemeClr val="lt1"/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rcRect l="5804" t="8154" r="14015" b="6965"/>
          <a:stretch>
            <a:fillRect/>
          </a:stretch>
        </p:blipFill>
        <p:spPr>
          <a:xfrm>
            <a:off x="403411" y="1357780"/>
            <a:ext cx="5775399" cy="509494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rcRect l="12623" t="7931" r="12704" b="5746"/>
          <a:stretch>
            <a:fillRect/>
          </a:stretch>
        </p:blipFill>
        <p:spPr>
          <a:xfrm>
            <a:off x="6529668" y="1357780"/>
            <a:ext cx="5288852" cy="5094941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7760359" y="911029"/>
            <a:ext cx="2827470" cy="3624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부드러운 등고선형 히트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맵</a:t>
            </a:r>
            <a:endParaRPr xmlns:mc="http://schemas.openxmlformats.org/markup-compatibility/2006" xmlns:hp="http://schemas.haansoft.com/office/presentation/8.0" lang="ko-KR" altLang="en-US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754111" y="910395"/>
            <a:ext cx="3073999" cy="363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사각형 격자 형태의 히트맵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2208872984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331</ep:Words>
  <ep:PresentationFormat>화면 슬라이드 쇼(4:3)</ep:PresentationFormat>
  <ep:Paragraphs>38</ep:Paragraphs>
  <ep:Slides>6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2025-08-31T06:16:09.794</dcterms:created>
  <dc:creator>psa20</dc:creator>
  <cp:lastModifiedBy>psa20</cp:lastModifiedBy>
  <dcterms:modified xsi:type="dcterms:W3CDTF">2025-08-31T07:41:09.764</dcterms:modified>
  <cp:revision>19</cp:revision>
  <cp:version>13.0.0.2760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